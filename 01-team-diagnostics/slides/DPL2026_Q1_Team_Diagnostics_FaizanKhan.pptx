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749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D31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9692640" y="3749040"/>
            <a:ext cx="3291840" cy="3291840"/>
          </a:xfrm>
          <a:prstGeom prst="ellipse">
            <a:avLst/>
          </a:prstGeom>
          <a:solidFill>
            <a:srgbClr val="C5302A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sma_white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02920"/>
            <a:ext cx="658368" cy="658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pl_white.png" id="15" name="Google Shape;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1328" y="50292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#DPL2026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85800" y="166420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DATA PREMIER LEAGUE 2026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85800" y="2359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3E8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CBD3E8"/>
                </a:solidFill>
                <a:latin typeface="Calibri"/>
                <a:ea typeface="Calibri"/>
                <a:cs typeface="Calibri"/>
                <a:sym typeface="Calibri"/>
              </a:rPr>
              <a:t>Decode the Game. Build the Analytics.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685800" y="2880360"/>
            <a:ext cx="5120640" cy="0"/>
          </a:xfrm>
          <a:prstGeom prst="straightConnector1">
            <a:avLst/>
          </a:prstGeom>
          <a:noFill/>
          <a:ln cap="flat" cmpd="sng" w="25400">
            <a:solidFill>
              <a:srgbClr val="C530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685800" y="30175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1300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PRELIMINARY ROUND — SUBMISSION</a:t>
            </a:r>
          </a:p>
        </p:txBody>
      </p:sp>
      <p:sp>
        <p:nvSpPr>
          <p:cNvPr id="21" name="Google Shape;21;p3"/>
          <p:cNvSpPr/>
          <p:nvPr/>
        </p:nvSpPr>
        <p:spPr>
          <a:xfrm>
            <a:off x="685800" y="3520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TEAM / PARTICIPANT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85800" y="3739896"/>
            <a:ext cx="10149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Faizan Khan</a:t>
            </a:r>
          </a:p>
        </p:txBody>
      </p:sp>
      <p:cxnSp>
        <p:nvCxnSpPr>
          <p:cNvPr id="23" name="Google Shape;23;p3"/>
          <p:cNvCxnSpPr/>
          <p:nvPr/>
        </p:nvCxnSpPr>
        <p:spPr>
          <a:xfrm>
            <a:off x="685800" y="4050792"/>
            <a:ext cx="10149840" cy="0"/>
          </a:xfrm>
          <a:prstGeom prst="straightConnector1">
            <a:avLst/>
          </a:prstGeom>
          <a:noFill/>
          <a:ln cap="flat" cmpd="sng" w="12700">
            <a:solidFill>
              <a:srgbClr val="3B4A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685800" y="41239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QUESTION ATTEMPTED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85800" y="4343400"/>
            <a:ext cx="10149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 1 — Franchise Report</a:t>
            </a:r>
          </a:p>
        </p:txBody>
      </p:sp>
      <p:cxnSp>
        <p:nvCxnSpPr>
          <p:cNvPr id="26" name="Google Shape;26;p3"/>
          <p:cNvCxnSpPr/>
          <p:nvPr/>
        </p:nvCxnSpPr>
        <p:spPr>
          <a:xfrm>
            <a:off x="685800" y="4654296"/>
            <a:ext cx="10149840" cy="0"/>
          </a:xfrm>
          <a:prstGeom prst="straightConnector1">
            <a:avLst/>
          </a:prstGeom>
          <a:noFill/>
          <a:ln cap="flat" cmpd="sng" w="12700">
            <a:solidFill>
              <a:srgbClr val="3B4A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/>
        </p:nvSpPr>
        <p:spPr>
          <a:xfrm>
            <a:off x="685800" y="472744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SELECTED IPL TEAM(S) / SEASONS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85800" y="4946904"/>
            <a:ext cx="10149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Royal Challengers Bengaluru · IPL 2023 and 2024 · chosen by a screen of all ten teams, then audited decision by decision</a:t>
            </a:r>
          </a:p>
        </p:txBody>
      </p:sp>
      <p:cxnSp>
        <p:nvCxnSpPr>
          <p:cNvPr id="29" name="Google Shape;29;p3"/>
          <p:cNvCxnSpPr/>
          <p:nvPr/>
        </p:nvCxnSpPr>
        <p:spPr>
          <a:xfrm>
            <a:off x="685800" y="5257800"/>
            <a:ext cx="10149840" cy="0"/>
          </a:xfrm>
          <a:prstGeom prst="straightConnector1">
            <a:avLst/>
          </a:prstGeom>
          <a:noFill/>
          <a:ln cap="flat" cmpd="sng" w="12700">
            <a:solidFill>
              <a:srgbClr val="3B4A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>
            <a:off x="685800" y="533095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SUBMISSION DATE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85800" y="5550408"/>
            <a:ext cx="10149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 / 10 / 2026</a:t>
            </a:r>
          </a:p>
        </p:txBody>
      </p:sp>
      <p:cxnSp>
        <p:nvCxnSpPr>
          <p:cNvPr id="32" name="Google Shape;32;p3"/>
          <p:cNvCxnSpPr/>
          <p:nvPr/>
        </p:nvCxnSpPr>
        <p:spPr>
          <a:xfrm>
            <a:off x="685800" y="5861304"/>
            <a:ext cx="10149840" cy="0"/>
          </a:xfrm>
          <a:prstGeom prst="straightConnector1">
            <a:avLst/>
          </a:prstGeom>
          <a:noFill/>
          <a:ln cap="flat" cmpd="sng" w="12700">
            <a:solidFill>
              <a:srgbClr val="3B4A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3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Data Premier League  ·  An INSMA Hackathon  ·  info@insma.in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Context &amp; Analytical Objective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9308592" y="420624"/>
            <a:ext cx="801014" cy="274320"/>
          </a:xfrm>
          <a:prstGeom prst="roundRect">
            <a:avLst>
              <a:gd fmla="val 20000" name="adj"/>
            </a:avLst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308592" y="420624"/>
            <a:ext cx="8010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1200" i="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Two problems inside one question</a:t>
            </a:r>
          </a:p>
        </p:txBody>
      </p:sp>
      <p:sp>
        <p:nvSpPr>
          <p:cNvPr id="45" name="Google Shape;45;p4"/>
          <p:cNvSpPr/>
          <p:nvPr/>
        </p:nvSpPr>
        <p:spPr>
          <a:xfrm>
            <a:off x="548640" y="1719072"/>
            <a:ext cx="50292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1250" i="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Problem A, which team? </a:t>
            </a:r>
            <a:r>
              <a:rPr lang="en-US" sz="1250" i="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Every team went through three gates fixed in advance: under-converted in both seasons, a weakness that survives three hurdles, and a money problem. Only RCB passes all three.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1250" i="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Problem B, that team. </a:t>
            </a:r>
            <a:r>
              <a:rPr lang="en-US" sz="1250" i="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What is wrong, what the franchise did about it at the auction, how that turned out, and what to do next.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1250" i="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Key question. </a:t>
            </a:r>
            <a:r>
              <a:rPr lang="en-US" sz="1250" i="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Which part of RCB's cricket was persistently below par, did the December 2023 auction fix it, and what is the cheapest fix now?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1250" i="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Approach. </a:t>
            </a:r>
            <a:r>
              <a:rPr lang="en-US" sz="1250" i="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Situation, search, obvious gap, representation, hypotheses, key question, run once for each problem.</a:t>
            </a:r>
          </a:p>
        </p:txBody>
      </p:sp>
      <p:sp>
        <p:nvSpPr>
          <p:cNvPr id="46" name="Google Shape;46;p4"/>
          <p:cNvSpPr/>
          <p:nvPr/>
        </p:nvSpPr>
        <p:spPr>
          <a:xfrm>
            <a:off x="5943600" y="1417320"/>
            <a:ext cx="5669280" cy="452628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50" name="Google Shape;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Picture 50" descr="a01_problem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782318"/>
            <a:ext cx="5577840" cy="2881883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080760" y="5029200"/>
            <a:ext cx="539496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Calibri"/>
              </a:rPr>
              <a:t>The problem map: money buys a squad, the squad is deployed into phases, phases produce runs, runs become wins, and value per crore feeds the next auction. Every analysis measures one link.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Data &amp; Methodology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9308592" y="420624"/>
            <a:ext cx="801014" cy="274320"/>
          </a:xfrm>
          <a:prstGeom prst="roundRect">
            <a:avLst>
              <a:gd fmla="val 20000" name="adj"/>
            </a:avLst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9308592" y="420624"/>
            <a:ext cx="8010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1417320"/>
            <a:ext cx="3639312" cy="45720"/>
          </a:xfrm>
          <a:prstGeom prst="rect">
            <a:avLst/>
          </a:prstGeom>
          <a:solidFill>
            <a:srgbClr val="C530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1572768"/>
            <a:ext cx="3639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" y="1965960"/>
            <a:ext cx="3639312" cy="306324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13232" y="2075688"/>
            <a:ext cx="3310128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DPL ball-by-ball, 2023–24: 34,967 rows × 61 fields, 145 matches, 14 venues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Ball tracking: line, length, shot, control, wagon wheel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Auction sheets for both seasons: retained, sold, traded, unsold (399 priced player-seasons)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Mentor sessions and published work: cricWAR, T20 Basics, Runs Above Expected, Malhotra</a:t>
            </a:r>
          </a:p>
        </p:txBody>
      </p:sp>
      <p:sp>
        <p:nvSpPr>
          <p:cNvPr id="65" name="Google Shape;65;p5"/>
          <p:cNvSpPr/>
          <p:nvPr/>
        </p:nvSpPr>
        <p:spPr>
          <a:xfrm>
            <a:off x="4361688" y="1417320"/>
            <a:ext cx="3639312" cy="45720"/>
          </a:xfrm>
          <a:prstGeom prst="rect">
            <a:avLst/>
          </a:prstGeom>
          <a:solidFill>
            <a:srgbClr val="C530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361688" y="1572768"/>
            <a:ext cx="3639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Cleaning &amp; Prep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361688" y="1965960"/>
            <a:ext cx="3639312" cy="306324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26280" y="2075688"/>
            <a:ext cx="3310128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bat_out is TRUE on 99.9% of rows: dismissals rebuilt; 1,797 true wickets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Retired hurt is not a wicket; wagon zones decoded (99.2% agreement)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All game state rebuilt as it stood before each ball; a guard blocks post-ball features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Every comparison made within season (2024 scoring jumped under the impact-player rule)</a:t>
            </a:r>
          </a:p>
        </p:txBody>
      </p:sp>
      <p:sp>
        <p:nvSpPr>
          <p:cNvPr id="69" name="Google Shape;69;p5"/>
          <p:cNvSpPr/>
          <p:nvPr/>
        </p:nvSpPr>
        <p:spPr>
          <a:xfrm>
            <a:off x="8174736" y="1417320"/>
            <a:ext cx="3639312" cy="45720"/>
          </a:xfrm>
          <a:prstGeom prst="rect">
            <a:avLst/>
          </a:prstGeom>
          <a:solidFill>
            <a:srgbClr val="C530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174736" y="1572768"/>
            <a:ext cx="3639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Analytical Methods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174736" y="1965960"/>
            <a:ext cx="3639312" cy="306324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339328" y="2075688"/>
            <a:ext cx="3310128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League EDA: 22 views by over, phase, ground, line/length, shot, matchup, team and price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Problem A: Pythagorean gate, 12-cell scan with BH, ground fixed effects and replication, money gate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Tools: expected runs M0→M4, win probability W0→W4, WAR, crore per WAR, hedonic prices, pressure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Problem B: eight written hypotheses; decision audit 2023 → auction → 2024, foresight vs hindsight</a:t>
            </a:r>
          </a:p>
        </p:txBody>
      </p:sp>
      <p:sp>
        <p:nvSpPr>
          <p:cNvPr id="73" name="Google Shape;73;p5"/>
          <p:cNvSpPr/>
          <p:nvPr/>
        </p:nvSpPr>
        <p:spPr>
          <a:xfrm>
            <a:off x="548640" y="516636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0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Code: github.com/sportsanalystf/data-premier-league-26/tree/main/01-team-diagnostics  ·  Rscript run_all.R rebuilds every number (seed 2026)  ·  Rscript build.R rebuilds the reports, paper, dashboard and deck</a:t>
            </a:r>
          </a:p>
        </p:txBody>
      </p:sp>
      <p:sp>
        <p:nvSpPr>
          <p:cNvPr id="74" name="Google Shape;74;p5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76" name="Google Shape;7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Performance Overview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84" name="Google Shape;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548640" y="1463040"/>
            <a:ext cx="6675120" cy="44805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7498080" y="1463040"/>
            <a:ext cx="4114800" cy="13716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726680" y="162763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2600"/>
              <a:buFont typeface="Bookman Old Style"/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600" i="0">
                <a:solidFill>
                  <a:srgbClr val="C530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of 10</a:t>
            </a:r>
          </a:p>
        </p:txBody>
      </p:sp>
      <p:sp>
        <p:nvSpPr>
          <p:cNvPr id="89" name="Google Shape;89;p6"/>
          <p:cNvSpPr/>
          <p:nvPr/>
        </p:nvSpPr>
        <p:spPr>
          <a:xfrm>
            <a:off x="7726680" y="2240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Teams passing all three gates: RCB only</a:t>
            </a:r>
          </a:p>
        </p:txBody>
      </p:sp>
      <p:sp>
        <p:nvSpPr>
          <p:cNvPr id="90" name="Google Shape;90;p6"/>
          <p:cNvSpPr/>
          <p:nvPr/>
        </p:nvSpPr>
        <p:spPr>
          <a:xfrm>
            <a:off x="7498080" y="2971800"/>
            <a:ext cx="4114800" cy="13716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726680" y="313639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2600"/>
              <a:buFont typeface="Bookman Old Style"/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600" i="0">
                <a:solidFill>
                  <a:srgbClr val="C530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−27.9</a:t>
            </a:r>
          </a:p>
        </p:txBody>
      </p:sp>
      <p:sp>
        <p:nvSpPr>
          <p:cNvPr id="92" name="Google Shape;92;p6"/>
          <p:cNvSpPr/>
          <p:nvPr/>
        </p:nvSpPr>
        <p:spPr>
          <a:xfrm>
            <a:off x="7726680" y="37490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Middle-overs spin, runs per 100 balls vs the rest: −26.8 in 2023, −29.0 in 2024</a:t>
            </a:r>
          </a:p>
        </p:txBody>
      </p:sp>
      <p:sp>
        <p:nvSpPr>
          <p:cNvPr id="93" name="Google Shape;93;p6"/>
          <p:cNvSpPr/>
          <p:nvPr/>
        </p:nvSpPr>
        <p:spPr>
          <a:xfrm>
            <a:off x="7498080" y="4480560"/>
            <a:ext cx="4114800" cy="13716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7726680" y="464515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2600"/>
              <a:buFont typeface="Bookman Old Style"/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600" i="0">
                <a:solidFill>
                  <a:srgbClr val="C530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₹36 : ₹2 cr</a:t>
            </a:r>
          </a:p>
        </p:txBody>
      </p:sp>
      <p:sp>
        <p:nvSpPr>
          <p:cNvPr id="95" name="Google Shape;95;p6"/>
          <p:cNvSpPr/>
          <p:nvPr/>
        </p:nvSpPr>
        <p:spPr>
          <a:xfrm>
            <a:off x="7726680" y="52578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New auction money for 2024 on pace against spin</a:t>
            </a:r>
          </a:p>
        </p:txBody>
      </p:sp>
      <p:sp>
        <p:nvSpPr>
          <p:cNvPr id="96" name="Google Shape;96;p6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98" name="Google Shape;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Picture 98" descr="a05_cell_s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99" y="1554480"/>
            <a:ext cx="6400800" cy="384048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731520" y="5440680"/>
            <a:ext cx="63093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i="1">
                <a:solidFill>
                  <a:srgbClr val="6B7280"/>
                </a:solidFill>
                <a:latin typeface="Calibri"/>
              </a:rPr>
              <a:t>Every team, every cell: runs above the rest of the league per 100 balls, ground and game state held fixed. Stars count hurdles cleared.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Detailed Analytical Findings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06" name="Google Shape;1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/>
          <p:nvPr/>
        </p:nvSpPr>
        <p:spPr>
          <a:xfrm>
            <a:off x="9308592" y="420624"/>
            <a:ext cx="801014" cy="274320"/>
          </a:xfrm>
          <a:prstGeom prst="roundRect">
            <a:avLst>
              <a:gd fmla="val 20000" name="adj"/>
            </a:avLst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9308592" y="420624"/>
            <a:ext cx="8010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051560" y="146304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1300" i="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RCB was chosen by the data, on three separate gates</a:t>
            </a:r>
          </a:p>
        </p:txBody>
      </p:sp>
      <p:sp>
        <p:nvSpPr>
          <p:cNvPr id="112" name="Google Shape;112;p7"/>
          <p:cNvSpPr/>
          <p:nvPr/>
        </p:nvSpPr>
        <p:spPr>
          <a:xfrm>
            <a:off x="1051560" y="1755648"/>
            <a:ext cx="9921240" cy="10515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216152" y="1865376"/>
            <a:ext cx="9592056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3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Below Pythagorean expectation in both seasons (−5.4 and −10.9 points); the only one of 83 team-cells to clear BH (q = 0.061), ground fixed effects (p = 0.0014) and replication; and the league's most negative surplus (−₹11.7 cr). Punjab passed two gates; nobody else more than one.</a:t>
            </a:r>
          </a:p>
        </p:txBody>
      </p:sp>
      <p:sp>
        <p:nvSpPr>
          <p:cNvPr id="114" name="Google Shape;114;p7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051560" y="288036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1300" i="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The leak is middle-overs spin, not bowling in general</a:t>
            </a:r>
          </a:p>
        </p:txBody>
      </p:sp>
      <p:sp>
        <p:nvSpPr>
          <p:cNvPr id="117" name="Google Shape;117;p7"/>
          <p:cNvSpPr/>
          <p:nvPr/>
        </p:nvSpPr>
        <p:spPr>
          <a:xfrm>
            <a:off x="1051560" y="3172968"/>
            <a:ext cx="9921240" cy="10515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216152" y="3282696"/>
            <a:ext cx="9592056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3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With the ground held fixed the bowling gap falls from +5.3 to −0.6 per 100 balls, and powerplay and death bowling both rank first in the league. Middle-overs spin is −27.9 against the rest, costing 105 runs (1.2 wins) in 2023 and 103 in 2024. No frontline spinner was above the league median.</a:t>
            </a:r>
          </a:p>
        </p:txBody>
      </p:sp>
      <p:sp>
        <p:nvSpPr>
          <p:cNvPr id="119" name="Google Shape;119;p7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051560" y="429768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1300" i="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The auction went the other way, and 2024 turned elsewhere</a:t>
            </a:r>
          </a:p>
        </p:txBody>
      </p:sp>
      <p:sp>
        <p:nvSpPr>
          <p:cNvPr id="122" name="Google Shape;122;p7"/>
          <p:cNvSpPr/>
          <p:nvPr/>
        </p:nvSpPr>
        <p:spPr>
          <a:xfrm>
            <a:off x="1051560" y="4590288"/>
            <a:ext cx="9921240" cy="10515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216152" y="4700016"/>
            <a:ext cx="9592056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3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Both main spinners were released; ₹36.2 cr of new money went on pace, ₹2.0 cr on spin. The 2024 turn (1/7 to 6/7) came from the powerplay (wickets 4 → 18); middle-overs spin stayed the league's worst. Clutch does not repeat (r = −0.28).</a:t>
            </a:r>
          </a:p>
        </p:txBody>
      </p:sp>
      <p:sp>
        <p:nvSpPr>
          <p:cNvPr id="124" name="Google Shape;124;p7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126" name="Google Shape;12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Strengths &amp; Weaknesses of Chosen Methodology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/>
          <p:nvPr/>
        </p:nvSpPr>
        <p:spPr>
          <a:xfrm>
            <a:off x="548640" y="1463040"/>
            <a:ext cx="5349240" cy="457200"/>
          </a:xfrm>
          <a:prstGeom prst="rect">
            <a:avLst/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48640" y="146304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48640" y="2011680"/>
            <a:ext cx="5349240" cy="393192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13232" y="2121408"/>
            <a:ext cx="5020056" cy="3712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Fair choice of team. </a:t>
            </a:r>
            <a:r>
              <a:rPr i="0" lang="en-US" sz="12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Three gates, fixed in advance, every team treated the same; nothing added up into one score.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Like-for-like. </a:t>
            </a:r>
            <a:r>
              <a:rPr i="0" lang="en-US" sz="12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Ground, over, wickets, bowler type and set-ness held fixed; ground also tested with fixed effects.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Honest validation. </a:t>
            </a:r>
            <a:r>
              <a:rPr i="0" lang="en-US" sz="12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Train 2023, test 2024. The simplest well-calibrated models won (M2 slope 1.004; W1 log-loss 0.508).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Decisions in order. </a:t>
            </a:r>
            <a:r>
              <a:rPr i="0" lang="en-US" sz="12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The audit separates what was knowable at the time (foresight) from what we know now (hindsight).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Checked against results. </a:t>
            </a:r>
            <a:r>
              <a:rPr i="0" lang="en-US" sz="12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Squad WAR tracks wins (r = 0.70) without seeing a result.</a:t>
            </a:r>
          </a:p>
        </p:txBody>
      </p:sp>
      <p:sp>
        <p:nvSpPr>
          <p:cNvPr id="139" name="Google Shape;139;p8"/>
          <p:cNvSpPr/>
          <p:nvPr/>
        </p:nvSpPr>
        <p:spPr>
          <a:xfrm>
            <a:off x="6263640" y="1463040"/>
            <a:ext cx="5349240" cy="457200"/>
          </a:xfrm>
          <a:prstGeom prst="rect">
            <a:avLst/>
          </a:prstGeom>
          <a:solidFill>
            <a:srgbClr val="C530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263640" y="146304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263640" y="2011680"/>
            <a:ext cx="5349240" cy="393192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428232" y="2121408"/>
            <a:ext cx="5020056" cy="3712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Two seasons. </a:t>
            </a:r>
            <a:r>
              <a:rPr i="0" lang="en-US" sz="12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Gate 1 holds in only 58% of match resamples; BH q for the cell is 0.061, so at a 5% level no team clears gate 2.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Heavy shrinkage. </a:t>
            </a:r>
            <a:r>
              <a:rPr i="0" lang="en-US" sz="12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k ≈ 585 balls for bowlers: projected gains (+0.24 wins) are far below the measured cost.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Thin foresight market. </a:t>
            </a:r>
            <a:r>
              <a:rPr i="0" lang="en-US" sz="12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Only 6 spinners in the Dec 2023 pool had 2023 middle-overs evidence.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Not causal. </a:t>
            </a:r>
            <a:r>
              <a:rPr i="0" lang="en-US" sz="12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 released player doing well elsewhere mixes skill with a new team, role and ground.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Incomplete prices. </a:t>
            </a:r>
            <a:r>
              <a:rPr i="0" lang="en-US" sz="12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Some replacement signings are not on the auction sheets.</a:t>
            </a:r>
          </a:p>
        </p:txBody>
      </p:sp>
      <p:sp>
        <p:nvSpPr>
          <p:cNvPr id="143" name="Google Shape;143;p8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145" name="Google Shape;1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Interpretation &amp; Practical Significance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/>
          <p:nvPr/>
        </p:nvSpPr>
        <p:spPr>
          <a:xfrm>
            <a:off x="9308592" y="420624"/>
            <a:ext cx="801014" cy="274320"/>
          </a:xfrm>
          <a:prstGeom prst="roundRect">
            <a:avLst>
              <a:gd fmla="val 20000" name="adj"/>
            </a:avLst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9308592" y="420624"/>
            <a:ext cx="8010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48640" y="1463040"/>
            <a:ext cx="5486400" cy="45720"/>
          </a:xfrm>
          <a:prstGeom prst="rect">
            <a:avLst/>
          </a:prstGeom>
          <a:solidFill>
            <a:srgbClr val="C530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Cricket interpretation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48640" y="1965960"/>
            <a:ext cx="5486400" cy="397764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713232" y="2075688"/>
            <a:ext cx="5157216" cy="3758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At Chinnaswamy raw economy punishes every bowler; adjusted, the new-ball and death attack were assets.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Overs 7–15 decide whether a side reaches the death with wickets in hand. Middle-overs wickets go with winning more than anything else (r = 0.69).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RCB's spinners in that phase were the league's worst two seasons running; Karn Sharma still bowled 39% of the overs in 2024.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Close games went 0–3: variance, not character. Clutch does not repeat.</a:t>
            </a:r>
          </a:p>
        </p:txBody>
      </p:sp>
      <p:sp>
        <p:nvSpPr>
          <p:cNvPr id="160" name="Google Shape;160;p9"/>
          <p:cNvSpPr/>
          <p:nvPr/>
        </p:nvSpPr>
        <p:spPr>
          <a:xfrm>
            <a:off x="6309360" y="1463040"/>
            <a:ext cx="5303520" cy="45720"/>
          </a:xfrm>
          <a:prstGeom prst="rect">
            <a:avLst/>
          </a:prstGeom>
          <a:solidFill>
            <a:srgbClr val="C530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Practical relevance to the franchise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309360" y="1965960"/>
            <a:ext cx="5303520" cy="397764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473952" y="2075688"/>
            <a:ext cx="4974336" cy="3758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Overseas players cost about +170% for the same role; Indian bowlers are the cheapest wins.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The proven middle-overs spinners were all retained elsewhere: the route is a trade, the route used for Cameron Green (₹17.5 cr).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In hindsight an established spinner in RCB's 2024 overs was worth about a win; Axar Patel 1.5 (₹9.0 cr).</a:t>
            </a: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F2430"/>
              </a:buClr>
              <a:buSzPts val="1350"/>
              <a:buFont typeface="Calibri"/>
              <a:buChar char="•"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Build around Yash Dayal, Mohammed Siraj, Dinesh Karthik and Rajat Patidar; review Glenn Maxwell and Alzarri Joseph on price.</a:t>
            </a:r>
          </a:p>
        </p:txBody>
      </p:sp>
      <p:sp>
        <p:nvSpPr>
          <p:cNvPr id="164" name="Google Shape;164;p9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166" name="Google Shape;1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749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9966960" y="-2011680"/>
            <a:ext cx="5029200" cy="5029200"/>
          </a:xfrm>
          <a:prstGeom prst="ellipse">
            <a:avLst/>
          </a:prstGeom>
          <a:solidFill>
            <a:srgbClr val="1D31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48640" y="731520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 &amp; Key Takeaways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48640" y="1691640"/>
            <a:ext cx="10149840" cy="1051560"/>
          </a:xfrm>
          <a:prstGeom prst="roundRect">
            <a:avLst>
              <a:gd fmla="val 5217" name="adj"/>
            </a:avLst>
          </a:prstGeom>
          <a:solidFill>
            <a:srgbClr val="1D2E52"/>
          </a:solidFill>
          <a:ln cap="flat" cmpd="sng" w="12700">
            <a:solidFill>
              <a:srgbClr val="354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822960" y="180136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300"/>
              <a:buFont typeface="Calibri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1300" i="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Buy one Indian middle-overs spinner, on more than one season</a:t>
            </a:r>
          </a:p>
        </p:txBody>
      </p:sp>
      <p:sp>
        <p:nvSpPr>
          <p:cNvPr id="177" name="Google Shape;177;p10"/>
          <p:cNvSpPr/>
          <p:nvPr/>
        </p:nvSpPr>
        <p:spPr>
          <a:xfrm>
            <a:off x="822960" y="2093976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3E8"/>
              </a:buClr>
              <a:buSzPts val="1250"/>
              <a:buFont typeface="Calibri"/>
              <a:buNone/>
            </a:pP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50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Top-quarter shrunk rate (≥ +5.7 per 100); bid ceiling = projected WAR × ~₹6.0 cr. Archetype: Varun Chakravarthy, Axar Patel, Krunal Pandya, Harpreet Brar. Trade if the pool is thin.</a:t>
            </a:r>
          </a:p>
        </p:txBody>
      </p:sp>
      <p:sp>
        <p:nvSpPr>
          <p:cNvPr id="178" name="Google Shape;178;p10"/>
          <p:cNvSpPr/>
          <p:nvPr/>
        </p:nvSpPr>
        <p:spPr>
          <a:xfrm>
            <a:off x="548640" y="2926080"/>
            <a:ext cx="10149840" cy="1051560"/>
          </a:xfrm>
          <a:prstGeom prst="roundRect">
            <a:avLst>
              <a:gd fmla="val 5217" name="adj"/>
            </a:avLst>
          </a:prstGeom>
          <a:solidFill>
            <a:srgbClr val="1D2E52"/>
          </a:solidFill>
          <a:ln cap="flat" cmpd="sng" w="12700">
            <a:solidFill>
              <a:srgbClr val="354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822960" y="303580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300"/>
              <a:buFont typeface="Calibri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1300" i="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Move the middle overs now, for free</a:t>
            </a:r>
          </a:p>
        </p:txBody>
      </p:sp>
      <p:sp>
        <p:nvSpPr>
          <p:cNvPr id="180" name="Google Shape;180;p10"/>
          <p:cNvSpPr/>
          <p:nvPr/>
        </p:nvSpPr>
        <p:spPr>
          <a:xfrm>
            <a:off x="822960" y="3328416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3E8"/>
              </a:buClr>
              <a:buSzPts val="1250"/>
              <a:buFont typeface="Calibri"/>
              <a:buNone/>
            </a:pP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50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More for Cameron Green, Mohammed Siraj and Glenn Maxwell, fewer for the bottom of the list; track middle-overs spin every five matches.</a:t>
            </a:r>
          </a:p>
        </p:txBody>
      </p:sp>
      <p:sp>
        <p:nvSpPr>
          <p:cNvPr id="181" name="Google Shape;181;p10"/>
          <p:cNvSpPr/>
          <p:nvPr/>
        </p:nvSpPr>
        <p:spPr>
          <a:xfrm>
            <a:off x="548640" y="4160520"/>
            <a:ext cx="10149840" cy="1051560"/>
          </a:xfrm>
          <a:prstGeom prst="roundRect">
            <a:avLst>
              <a:gd fmla="val 5217" name="adj"/>
            </a:avLst>
          </a:prstGeom>
          <a:solidFill>
            <a:srgbClr val="1D2E52"/>
          </a:solidFill>
          <a:ln cap="flat" cmpd="sng" w="12700">
            <a:solidFill>
              <a:srgbClr val="354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822960" y="42702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300"/>
              <a:buFont typeface="Calibri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1300" i="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Don't buy ‘bowling’ or ‘clutch’</a:t>
            </a:r>
          </a:p>
        </p:txBody>
      </p:sp>
      <p:sp>
        <p:nvSpPr>
          <p:cNvPr id="183" name="Google Shape;183;p10"/>
          <p:cNvSpPr/>
          <p:nvPr/>
        </p:nvSpPr>
        <p:spPr>
          <a:xfrm>
            <a:off x="822960" y="4562856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3E8"/>
              </a:buClr>
              <a:buSzPts val="1250"/>
              <a:buFont typeface="Calibri"/>
              <a:buNone/>
            </a:pP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250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The new ball and the death are already strong once the ground is removed, and clutch does not repeat. Keep the big bids and overseas slots for proven overall rate.</a:t>
            </a:r>
          </a:p>
        </p:txBody>
      </p:sp>
      <p:sp>
        <p:nvSpPr>
          <p:cNvPr id="184" name="Google Shape;184;p1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 &amp; Code Repository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48640" y="1783080"/>
            <a:ext cx="10881360" cy="18288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13232" y="1892808"/>
            <a:ext cx="1055217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6B7280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Bandyopadhyay, Runs Above Expected, arXiv:2608.18020  ·  Ganjoo, T20 Basics  ·  Rafique, cricWAR (CMSAC 2022)</a:t>
            </a:r>
          </a:p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6B7280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Malhotra, J. Sports Analytics 8(3) 2022  ·  Date, A Cricketing View  ·  Nielsen, Cricket Sims  ·  Weston, IPL Auctions</a:t>
            </a:r>
          </a:p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6B7280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Benjamini &amp; Hochberg (1995)  ·  DPL 2026 mentor sessions: A. Desai, O. Walunj, S. Gupta, H. Ganjoo</a:t>
            </a:r>
          </a:p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6B7280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0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Epilogue (outside the data): Sportskeeda and Onmanorama on the 2025 auction; cricket.com on the 2025 final</a:t>
            </a:r>
          </a:p>
        </p:txBody>
      </p:sp>
      <p:sp>
        <p:nvSpPr>
          <p:cNvPr id="197" name="Google Shape;197;p11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Code, Reproducibility &amp; Video Explanation Links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48640" y="4114800"/>
            <a:ext cx="10881360" cy="12801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13232" y="4224528"/>
            <a:ext cx="10552176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6B7280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Repository: </a:t>
            </a:r>
            <a:r>
              <a:rPr i="0" lang="en-US" sz="11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github.com/sportsanalystf/data-premier-league-26/tree/main/01-team-diagnostics</a:t>
            </a:r>
          </a:p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6B7280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Rebuild: </a:t>
            </a:r>
            <a:r>
              <a:rPr i="0" lang="en-US" sz="11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Rscript build.R (run_all.R → figures → numbers → three reports → paper → dashboard → deck); R 4.3, Quarto; seed 2026</a:t>
            </a:r>
          </a:p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6B7280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Deliverables: </a:t>
            </a:r>
            <a:r>
              <a:rPr i="0" lang="en-US" sz="11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report/01–03 (EDA, team review, player appendix), paper/paper.pdf, appendix/dashboard.html, data/, this deck</a:t>
            </a:r>
          </a:p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6B7280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i="0" lang="en-US" sz="1100" b="1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Video explanation: </a:t>
            </a:r>
            <a:r>
              <a:rPr i="0" lang="en-US" sz="1100" b="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video/DPL2026_Q1_FaizanKhan_video.mp4 in the repository (7 min, subtitled)</a:t>
            </a:r>
          </a:p>
        </p:txBody>
      </p:sp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800" i="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A1 · The league: how an innings is shaped</a:t>
            </a: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900" i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Picture 202" descr="e02_by_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3199"/>
            <a:ext cx="5440680" cy="4231640"/>
          </a:xfrm>
          <a:prstGeom prst="rect">
            <a:avLst/>
          </a:prstGeom>
        </p:spPr>
      </p:pic>
      <p:pic>
        <p:nvPicPr>
          <p:cNvPr id="204" name="Picture 203" descr="e07_pace_s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401962"/>
            <a:ext cx="5440680" cy="2374114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i="1">
                <a:solidFill>
                  <a:srgbClr val="6B7280"/>
                </a:solidFill>
                <a:latin typeface="Calibri"/>
              </a:rPr>
              <a:t>Scoring rose from 8.94 to 9.52 an over, mostly in the powerplay and at the death (middle overs +0.41). Spin is the middle-overs tool and stayed cheaper than pace there in 2024.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800" i="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A2 · The league: what goes with winning, and where</a:t>
            </a: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900" i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Picture 202" descr="e17_win_corre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6815"/>
            <a:ext cx="5440680" cy="3264408"/>
          </a:xfrm>
          <a:prstGeom prst="rect">
            <a:avLst/>
          </a:prstGeom>
        </p:spPr>
      </p:pic>
      <p:pic>
        <p:nvPicPr>
          <p:cNvPr id="204" name="Picture 203" descr="e06_ven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915" y="1417320"/>
            <a:ext cx="5429250" cy="4343400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i="1">
                <a:solidFill>
                  <a:srgbClr val="6B7280"/>
                </a:solidFill>
                <a:latin typeface="Calibri"/>
              </a:rPr>
              <a:t>Middle-overs wickets are the team habit most tied to winning (r = 0.69, 20 team-seasons). Grounds differ by 1.8 runs an over, so every comparison holds venue fixed.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800" i="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A3 · Problem A: results and the cell scan</a:t>
            </a: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900" i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Picture 202" descr="a03_pyth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5460"/>
            <a:ext cx="5440680" cy="3627120"/>
          </a:xfrm>
          <a:prstGeom prst="rect">
            <a:avLst/>
          </a:prstGeom>
        </p:spPr>
      </p:pic>
      <p:pic>
        <p:nvPicPr>
          <p:cNvPr id="204" name="Picture 203" descr="a05_cell_s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956815"/>
            <a:ext cx="5440680" cy="3264408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i="1">
                <a:solidFill>
                  <a:srgbClr val="6B7280"/>
                </a:solidFill>
                <a:latin typeface="Calibri"/>
              </a:rPr>
              <a:t>Left: only RCB and PBKS won fewer games than their runs deserved in both seasons. Right: one cell of 83 clears all three hurdles, RCB's middle-overs spin.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800" i="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A4 · Problem A: money, and every dimension</a:t>
            </a: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900" i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Picture 202" descr="a07_money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5460"/>
            <a:ext cx="5440680" cy="3627120"/>
          </a:xfrm>
          <a:prstGeom prst="rect">
            <a:avLst/>
          </a:prstGeom>
        </p:spPr>
      </p:pic>
      <p:pic>
        <p:nvPicPr>
          <p:cNvPr id="204" name="Picture 203" descr="a10_score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562584"/>
            <a:ext cx="5440680" cy="4052870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i="1">
                <a:solidFill>
                  <a:srgbClr val="6B7280"/>
                </a:solidFill>
                <a:latin typeface="Calibri"/>
              </a:rPr>
              <a:t>RCB had the most negative surplus (−₹11.7 cr) over two seasons. The scorecard: powerplay and death bowling both rank first; middle-overs bowling 10; spin 10.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800" i="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A5 · The measuring tools: two model ladders</a:t>
            </a: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900" i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Picture 202" descr="m02_exp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9980"/>
            <a:ext cx="5440680" cy="2418080"/>
          </a:xfrm>
          <a:prstGeom prst="rect">
            <a:avLst/>
          </a:prstGeom>
        </p:spPr>
      </p:pic>
      <p:pic>
        <p:nvPicPr>
          <p:cNvPr id="204" name="Picture 203" descr="m04_wp_lad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500884"/>
            <a:ext cx="5440680" cy="2176272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i="1">
                <a:solidFill>
                  <a:srgbClr val="6B7280"/>
                </a:solidFill>
                <a:latin typeface="Calibri"/>
              </a:rPr>
              <a:t>Trained on 2023, scored on 2024. Boosting is most accurate (+2.7%) but only M2 is well calibrated (slope 1.004). The three-parameter win model W1 beats logistic and GAM (log-loss 0.508).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800" i="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A6 · From runs to wins to crore</a:t>
            </a: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900" i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Picture 202" descr="m08_team_w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38172"/>
            <a:ext cx="5440680" cy="2901696"/>
          </a:xfrm>
          <a:prstGeom prst="rect">
            <a:avLst/>
          </a:prstGeom>
        </p:spPr>
      </p:pic>
      <p:pic>
        <p:nvPicPr>
          <p:cNvPr id="204" name="Picture 203" descr="m09_cr_per_w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379980"/>
            <a:ext cx="5440680" cy="2418080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i="1">
                <a:solidFill>
                  <a:srgbClr val="6B7280"/>
                </a:solidFill>
                <a:latin typeface="Calibri"/>
              </a:rPr>
              <a:t>Squad WAR, built ball by ball, tracks wins (r = 0.75); 90 runs per win. Indian bowlers are the cheapest wins in the market.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800" i="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A7 · Problem B: the ground, and the middle overs</a:t>
            </a: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900" i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Picture 202" descr="b03_venu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61336"/>
            <a:ext cx="5440680" cy="2055368"/>
          </a:xfrm>
          <a:prstGeom prst="rect">
            <a:avLst/>
          </a:prstGeom>
        </p:spPr>
      </p:pic>
      <p:pic>
        <p:nvPicPr>
          <p:cNvPr id="204" name="Picture 203" descr="b02_mid_s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200402"/>
            <a:ext cx="5440680" cy="2777236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i="1">
                <a:solidFill>
                  <a:srgbClr val="6B7280"/>
                </a:solidFill>
                <a:latin typeface="Calibri"/>
              </a:rPr>
              <a:t>Bowling effect +5.3 → −0.6 per 100 balls with ground fixed effects. Middle-overs spin −24.1 against expectation; every other side +3.8.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800" i="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A8 · What 2023 said, and where the money went</a:t>
            </a: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900" i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Picture 202" descr="c02_cells_sh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77720"/>
            <a:ext cx="5440680" cy="3022600"/>
          </a:xfrm>
          <a:prstGeom prst="rect">
            <a:avLst/>
          </a:prstGeom>
        </p:spPr>
      </p:pic>
      <p:pic>
        <p:nvPicPr>
          <p:cNvPr id="204" name="Picture 203" descr="c04_money_mo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440432"/>
            <a:ext cx="5440680" cy="2297176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i="1">
                <a:solidFill>
                  <a:srgbClr val="6B7280"/>
                </a:solidFill>
                <a:latin typeface="Calibri"/>
              </a:rPr>
              <a:t>Most weak cells moved between seasons; middle-overs spin did not (−26.8 then −29.0). New money: ₹36.2 cr on pace, ₹2.0 cr on spin.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800" i="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A9 · The decision audit: outcomes and the market</a:t>
            </a: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900" i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Picture 202" descr="c05_moves_w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98142"/>
            <a:ext cx="5440680" cy="3381756"/>
          </a:xfrm>
          <a:prstGeom prst="rect">
            <a:avLst/>
          </a:prstGeom>
        </p:spPr>
      </p:pic>
      <p:pic>
        <p:nvPicPr>
          <p:cNvPr id="204" name="Picture 203" descr="c07_spin_mar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775460"/>
            <a:ext cx="5440680" cy="3627120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i="1">
                <a:solidFill>
                  <a:srgbClr val="6B7280"/>
                </a:solidFill>
                <a:latin typeface="Calibri"/>
              </a:rPr>
              <a:t>Arrivals: 4.6 WAR at ₹8.72 cr per WAR. None of 2023's regular middle-overs spinners was in the auction; the route was a trade. Axar Patel would have been worth 1.5 wins (hindsight).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800" i="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A10 · Inside 2024, and what the gap cost</a:t>
            </a: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900" i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Picture 202" descr="c08_early_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92070"/>
            <a:ext cx="5440680" cy="2393899"/>
          </a:xfrm>
          <a:prstGeom prst="rect">
            <a:avLst/>
          </a:prstGeom>
        </p:spPr>
      </p:pic>
      <p:pic>
        <p:nvPicPr>
          <p:cNvPr id="204" name="Picture 203" descr="c03_st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922678"/>
            <a:ext cx="5440680" cy="3332683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i="1">
                <a:solidFill>
                  <a:srgbClr val="6B7280"/>
                </a:solidFill>
                <a:latin typeface="Calibri"/>
              </a:rPr>
              <a:t>1 win in 7, then 6 in 7: the turn came in the powerplay (wickets 4 → 18). The spin gap cost 105 and 103 runs.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b="1" lang="en-US" sz="2800" i="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A11 · What next: options and the squad</a:t>
            </a: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900" i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Picture 202" descr="c10_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40432"/>
            <a:ext cx="5440680" cy="2297176"/>
          </a:xfrm>
          <a:prstGeom prst="rect">
            <a:avLst/>
          </a:prstGeom>
        </p:spPr>
      </p:pic>
      <p:pic>
        <p:nvPicPr>
          <p:cNvPr id="204" name="Picture 203" descr="c11_reten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898142"/>
            <a:ext cx="5440680" cy="3381756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i="1">
                <a:solidFill>
                  <a:srgbClr val="6B7280"/>
                </a:solidFill>
                <a:latin typeface="Calibri"/>
              </a:rPr>
              <a:t>On shrunk projections a top-quartile Indian spinner adds 0.24 wins (85% chance positive); up to 0.8 if the gap repeated. Right: 2024 WAR against price.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