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  <Relationship Id="rId14" Type="http://schemas.openxmlformats.org/officeDocument/2006/relationships/slide" Target="slides/slide10.xml"/>
  <Relationship Id="rId15" Type="http://schemas.openxmlformats.org/officeDocument/2006/relationships/slide" Target="slides/slide11.xml"/>
  <Relationship Id="rId16" Type="http://schemas.openxmlformats.org/officeDocument/2006/relationships/slide" Target="slides/slide12.xml"/>
  <Relationship Id="rId17" Type="http://schemas.openxmlformats.org/officeDocument/2006/relationships/slide" Target="slides/slide13.xml"/>
  <Relationship Id="rId18" Type="http://schemas.openxmlformats.org/officeDocument/2006/relationships/slide" Target="slides/slide14.xml"/>
  <Relationship Id="rId19" Type="http://schemas.openxmlformats.org/officeDocument/2006/relationships/slide" Target="slides/slide15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749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1D31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9692640" y="3749040"/>
            <a:ext cx="3291840" cy="3291840"/>
          </a:xfrm>
          <a:prstGeom prst="ellipse">
            <a:avLst/>
          </a:prstGeom>
          <a:solidFill>
            <a:srgbClr val="C5302A">
              <a:alpha val="1215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nsma_white.png" id="14" name="Google Shape;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502920"/>
            <a:ext cx="658368" cy="6583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pl_white.png" id="15" name="Google Shape;1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1328" y="502920"/>
            <a:ext cx="658368" cy="65836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#DPL2026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85800" y="1664208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</a:pPr>
            <a:r>
              <a:rPr b="1" lang="en-US" sz="36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DATA PREMIER LEAGUE 2026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85800" y="2359152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3E8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CBD3E8"/>
                </a:solidFill>
                <a:latin typeface="Calibri"/>
                <a:ea typeface="Calibri"/>
                <a:cs typeface="Calibri"/>
                <a:sym typeface="Calibri"/>
              </a:rPr>
              <a:t>Decode the Game. Build the Analytics.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685800" y="2880360"/>
            <a:ext cx="5120640" cy="0"/>
          </a:xfrm>
          <a:prstGeom prst="straightConnector1">
            <a:avLst/>
          </a:prstGeom>
          <a:noFill/>
          <a:ln cap="flat" cmpd="sng" w="25400">
            <a:solidFill>
              <a:srgbClr val="C5302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685800" y="3017520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PRELIMINARY ROUND — SUBMISSION TEMPLATE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85800" y="3520440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7B8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8C97B8"/>
                </a:solidFill>
                <a:latin typeface="Calibri"/>
                <a:ea typeface="Calibri"/>
                <a:cs typeface="Calibri"/>
                <a:sym typeface="Calibri"/>
              </a:rPr>
              <a:t>TEAM / PARTICIPANT NAME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85800" y="3739896"/>
            <a:ext cx="10149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Enter name(s) here 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685800" y="4050792"/>
            <a:ext cx="10149840" cy="0"/>
          </a:xfrm>
          <a:prstGeom prst="straightConnector1">
            <a:avLst/>
          </a:prstGeom>
          <a:noFill/>
          <a:ln cap="flat" cmpd="sng" w="12700">
            <a:solidFill>
              <a:srgbClr val="3B4A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685800" y="4123944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7B8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8C97B8"/>
                </a:solidFill>
                <a:latin typeface="Calibri"/>
                <a:ea typeface="Calibri"/>
                <a:cs typeface="Calibri"/>
                <a:sym typeface="Calibri"/>
              </a:rPr>
              <a:t>QUESTION ATTEMPTED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85800" y="4343400"/>
            <a:ext cx="10149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Question 1 — Franchise Report   OR   Question 2 — 2023 vs 2024 Comparative Analysis 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685800" y="4654296"/>
            <a:ext cx="10149840" cy="0"/>
          </a:xfrm>
          <a:prstGeom prst="straightConnector1">
            <a:avLst/>
          </a:prstGeom>
          <a:noFill/>
          <a:ln cap="flat" cmpd="sng" w="12700">
            <a:solidFill>
              <a:srgbClr val="3B4A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3"/>
          <p:cNvSpPr/>
          <p:nvPr/>
        </p:nvSpPr>
        <p:spPr>
          <a:xfrm>
            <a:off x="685800" y="472744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7B8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8C97B8"/>
                </a:solidFill>
                <a:latin typeface="Calibri"/>
                <a:ea typeface="Calibri"/>
                <a:cs typeface="Calibri"/>
                <a:sym typeface="Calibri"/>
              </a:rPr>
              <a:t>SELECTED IPL TEAM(S) / SEASONS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85800" y="4946904"/>
            <a:ext cx="10149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Enter scope of analysis 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3"/>
          <p:cNvCxnSpPr/>
          <p:nvPr/>
        </p:nvCxnSpPr>
        <p:spPr>
          <a:xfrm>
            <a:off x="685800" y="5257800"/>
            <a:ext cx="10149840" cy="0"/>
          </a:xfrm>
          <a:prstGeom prst="straightConnector1">
            <a:avLst/>
          </a:prstGeom>
          <a:noFill/>
          <a:ln cap="flat" cmpd="sng" w="12700">
            <a:solidFill>
              <a:srgbClr val="3B4A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3"/>
          <p:cNvSpPr/>
          <p:nvPr/>
        </p:nvSpPr>
        <p:spPr>
          <a:xfrm>
            <a:off x="685800" y="533095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7B8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8C97B8"/>
                </a:solidFill>
                <a:latin typeface="Calibri"/>
                <a:ea typeface="Calibri"/>
                <a:cs typeface="Calibri"/>
                <a:sym typeface="Calibri"/>
              </a:rPr>
              <a:t>SUBMISSION DATE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85800" y="5550408"/>
            <a:ext cx="10149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 DD / MM / 2026 ]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685800" y="5861304"/>
            <a:ext cx="10149840" cy="0"/>
          </a:xfrm>
          <a:prstGeom prst="straightConnector1">
            <a:avLst/>
          </a:prstGeom>
          <a:noFill/>
          <a:ln cap="flat" cmpd="sng" w="12700">
            <a:solidFill>
              <a:srgbClr val="3B4A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" name="Google Shape;33;p3"/>
          <p:cNvSpPr/>
          <p:nvPr/>
        </p:nvSpPr>
        <p:spPr>
          <a:xfrm>
            <a:off x="685800" y="64465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7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C97B8"/>
                </a:solidFill>
                <a:latin typeface="Calibri"/>
                <a:ea typeface="Calibri"/>
                <a:cs typeface="Calibri"/>
                <a:sym typeface="Calibri"/>
              </a:rPr>
              <a:t>Data Premier League  ·  An INSMA Hackathon  ·  info@insma.in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Context &amp; Analytical Objective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41" name="Google Shape;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9308592" y="420624"/>
            <a:ext cx="801014" cy="274320"/>
          </a:xfrm>
          <a:prstGeom prst="roundRect">
            <a:avLst>
              <a:gd fmla="val 20000" name="adj"/>
            </a:avLst>
          </a:prstGeom>
          <a:solidFill>
            <a:srgbClr val="1727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9308592" y="420624"/>
            <a:ext cx="80101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1417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What to cover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" y="1719072"/>
            <a:ext cx="5029200" cy="420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430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Which question you selected (Q1 franchise report or Q2 2023-24 comparison) and why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430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The IPL team(s) / seasons chosen and the franchise lens you are analysing from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430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The core analytical objective — the decision(s) this analysis should inform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2430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1F2430"/>
                </a:solidFill>
                <a:latin typeface="Calibri"/>
                <a:ea typeface="Calibri"/>
                <a:cs typeface="Calibri"/>
                <a:sym typeface="Calibri"/>
              </a:rPr>
              <a:t>Scope and boundaries of the analysis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943600" y="1417320"/>
            <a:ext cx="5669280" cy="452628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108192" y="1527048"/>
            <a:ext cx="5340096" cy="43068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Add: objective statement, team/season selection rationale, and framing visual (e.g. franchise crest, season snapshot) here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50" name="Google Shape;5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Data &amp; Methodology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9308592" y="420624"/>
            <a:ext cx="801014" cy="274320"/>
          </a:xfrm>
          <a:prstGeom prst="roundRect">
            <a:avLst>
              <a:gd fmla="val 20000" name="adj"/>
            </a:avLst>
          </a:prstGeom>
          <a:solidFill>
            <a:srgbClr val="1727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9308592" y="420624"/>
            <a:ext cx="80101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1417320"/>
            <a:ext cx="3639312" cy="45720"/>
          </a:xfrm>
          <a:prstGeom prst="rect">
            <a:avLst/>
          </a:prstGeom>
          <a:solidFill>
            <a:srgbClr val="C530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48640" y="1572768"/>
            <a:ext cx="3639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548640" y="1965960"/>
            <a:ext cx="3639312" cy="306324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713232" y="2075688"/>
            <a:ext cx="3310128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Dataset(s) used, coverage period, ball-by-ball fields, any external/custom data added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361688" y="1417320"/>
            <a:ext cx="3639312" cy="45720"/>
          </a:xfrm>
          <a:prstGeom prst="rect">
            <a:avLst/>
          </a:prstGeom>
          <a:solidFill>
            <a:srgbClr val="C530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361688" y="1572768"/>
            <a:ext cx="3639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Cleaning &amp; Prep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361688" y="1965960"/>
            <a:ext cx="3639312" cy="306324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526280" y="2075688"/>
            <a:ext cx="3310128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Cleaning steps, handling of missing values, derived fields, assumptions made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8174736" y="1417320"/>
            <a:ext cx="3639312" cy="45720"/>
          </a:xfrm>
          <a:prstGeom prst="rect">
            <a:avLst/>
          </a:prstGeom>
          <a:solidFill>
            <a:srgbClr val="C530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8174736" y="1572768"/>
            <a:ext cx="36393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Analytical Methods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174736" y="1965960"/>
            <a:ext cx="3639312" cy="306324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339328" y="2075688"/>
            <a:ext cx="3310128" cy="2843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Statistical methods, metrics, models — and why each was chosen for this question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48640" y="516636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Calibri"/>
              <a:buNone/>
            </a:pPr>
            <a:r>
              <a:rPr i="1" lang="en-US" sz="10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Reproducibility note: link your code repository / notebook here.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76" name="Google Shape;7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SECTION 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Performance Overview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84" name="Google Shape;8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/>
          <p:nvPr/>
        </p:nvSpPr>
        <p:spPr>
          <a:xfrm>
            <a:off x="548640" y="1463040"/>
            <a:ext cx="6675120" cy="448056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713232" y="1572768"/>
            <a:ext cx="6345936" cy="4261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Insert primary performance visualisation — e.g. season trend chart, team form, or headline KPI dashboard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7498080" y="1463040"/>
            <a:ext cx="4114800" cy="13716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7726680" y="1627632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2600"/>
              <a:buFont typeface="Bookman Old Style"/>
              <a:buNone/>
            </a:pPr>
            <a:r>
              <a:rPr b="1" lang="en-US" sz="2600">
                <a:solidFill>
                  <a:srgbClr val="C530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[ XX.X ]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7726680" y="224028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Headline Metric 1 — [ one-line context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7498080" y="2971800"/>
            <a:ext cx="4114800" cy="13716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7726680" y="3136392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2600"/>
              <a:buFont typeface="Bookman Old Style"/>
              <a:buNone/>
            </a:pPr>
            <a:r>
              <a:rPr b="1" lang="en-US" sz="2600">
                <a:solidFill>
                  <a:srgbClr val="C530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[ XX.X ]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7726680" y="37490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Headline Metric 2 — [ one-line context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7498080" y="4480560"/>
            <a:ext cx="4114800" cy="13716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7726680" y="4645152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2600"/>
              <a:buFont typeface="Bookman Old Style"/>
              <a:buNone/>
            </a:pPr>
            <a:r>
              <a:rPr b="1" lang="en-US" sz="2600">
                <a:solidFill>
                  <a:srgbClr val="C5302A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[ XX.X ]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7726680" y="52578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Headline Metric 3 — [ one-line context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98" name="Google Shape;9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SECTION 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Detailed Analytical Findings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106" name="Google Shape;1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7"/>
          <p:cNvSpPr/>
          <p:nvPr/>
        </p:nvSpPr>
        <p:spPr>
          <a:xfrm>
            <a:off x="9308592" y="420624"/>
            <a:ext cx="801014" cy="274320"/>
          </a:xfrm>
          <a:prstGeom prst="roundRect">
            <a:avLst>
              <a:gd fmla="val 20000" name="adj"/>
            </a:avLst>
          </a:prstGeom>
          <a:solidFill>
            <a:srgbClr val="1727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9308592" y="420624"/>
            <a:ext cx="80101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48640" y="1508760"/>
            <a:ext cx="365760" cy="365760"/>
          </a:xfrm>
          <a:prstGeom prst="ellipse">
            <a:avLst/>
          </a:prstGeom>
          <a:solidFill>
            <a:srgbClr val="1727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48640" y="1508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051560" y="14630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Finding 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051560" y="1755648"/>
            <a:ext cx="9921240" cy="105156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216152" y="1865376"/>
            <a:ext cx="9592056" cy="8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State the finding, the evidence behind it, and its statistical strength 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1727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051560" y="28803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Finding 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051560" y="3172968"/>
            <a:ext cx="9921240" cy="105156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216152" y="3282696"/>
            <a:ext cx="9592056" cy="8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State the finding, the evidence behind it, and its statistical strength 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48640" y="4343400"/>
            <a:ext cx="365760" cy="365760"/>
          </a:xfrm>
          <a:prstGeom prst="ellipse">
            <a:avLst/>
          </a:prstGeom>
          <a:solidFill>
            <a:srgbClr val="1727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48640" y="4343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051560" y="42976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Finding 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1051560" y="4590288"/>
            <a:ext cx="9921240" cy="105156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216152" y="4700016"/>
            <a:ext cx="9592056" cy="8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State the finding, the evidence behind it, and its statistical strength 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126" name="Google Shape;12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SECTION 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Strengths &amp; Weaknesses of Chosen Methodology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8"/>
          <p:cNvSpPr/>
          <p:nvPr/>
        </p:nvSpPr>
        <p:spPr>
          <a:xfrm>
            <a:off x="548640" y="1463040"/>
            <a:ext cx="5349240" cy="457200"/>
          </a:xfrm>
          <a:prstGeom prst="rect">
            <a:avLst/>
          </a:prstGeom>
          <a:solidFill>
            <a:srgbClr val="1727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548640" y="1463040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STRENGTHS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48640" y="2011680"/>
            <a:ext cx="5349240" cy="393192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713232" y="2121408"/>
            <a:ext cx="5020056" cy="3712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What the method does well — robustness, appropriateness to the data, validation approach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263640" y="1463040"/>
            <a:ext cx="5349240" cy="457200"/>
          </a:xfrm>
          <a:prstGeom prst="rect">
            <a:avLst/>
          </a:prstGeom>
          <a:solidFill>
            <a:srgbClr val="C530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6263640" y="1463040"/>
            <a:ext cx="5349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6263640" y="2011680"/>
            <a:ext cx="5349240" cy="393192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428232" y="2121408"/>
            <a:ext cx="5020056" cy="3712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Where the method falls short — sample size, uncertainty, confounds, and how you mitigated or would mitigate them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145" name="Google Shape;14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SECTION 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Interpretation &amp; Practical Significance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/>
          <p:nvPr/>
        </p:nvSpPr>
        <p:spPr>
          <a:xfrm>
            <a:off x="9308592" y="420624"/>
            <a:ext cx="801014" cy="274320"/>
          </a:xfrm>
          <a:prstGeom prst="roundRect">
            <a:avLst>
              <a:gd fmla="val 20000" name="adj"/>
            </a:avLst>
          </a:prstGeom>
          <a:solidFill>
            <a:srgbClr val="1727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9308592" y="420624"/>
            <a:ext cx="80101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REQUIRED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548640" y="1463040"/>
            <a:ext cx="5486400" cy="45720"/>
          </a:xfrm>
          <a:prstGeom prst="rect">
            <a:avLst/>
          </a:prstGeom>
          <a:solidFill>
            <a:srgbClr val="C530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Cricket interpretation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48640" y="1965960"/>
            <a:ext cx="5486400" cy="397764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713232" y="2075688"/>
            <a:ext cx="5157216" cy="3758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What do the findings mean in cricket terms — player roles, match phases, tactics, venue/opposition effects?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309360" y="1463040"/>
            <a:ext cx="5303520" cy="45720"/>
          </a:xfrm>
          <a:prstGeom prst="rect">
            <a:avLst/>
          </a:prstGeom>
          <a:solidFill>
            <a:srgbClr val="C530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6309360" y="160020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Practical relevance to the franchise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309360" y="1965960"/>
            <a:ext cx="5303520" cy="397764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473952" y="2075688"/>
            <a:ext cx="4974336" cy="3758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Squad composition, player availability, overseas-player limits, role balance, recruitment constraints, competitive ambitions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166" name="Google Shape;16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2749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"/>
          <p:cNvSpPr/>
          <p:nvPr/>
        </p:nvSpPr>
        <p:spPr>
          <a:xfrm>
            <a:off x="9966960" y="-2011680"/>
            <a:ext cx="5029200" cy="5029200"/>
          </a:xfrm>
          <a:prstGeom prst="ellipse">
            <a:avLst/>
          </a:prstGeom>
          <a:solidFill>
            <a:srgbClr val="1D315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SECTION 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548640" y="731520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Conclusion &amp; Key Takeaways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48640" y="1691640"/>
            <a:ext cx="10149840" cy="1051560"/>
          </a:xfrm>
          <a:prstGeom prst="roundRect">
            <a:avLst>
              <a:gd fmla="val 5217" name="adj"/>
            </a:avLst>
          </a:prstGeom>
          <a:solidFill>
            <a:srgbClr val="1D2E52"/>
          </a:solidFill>
          <a:ln cap="flat" cmpd="sng" w="12700">
            <a:solidFill>
              <a:srgbClr val="354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822960" y="180136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Key Takeaway 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822960" y="2093976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3E8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CBD3E8"/>
                </a:solidFill>
                <a:latin typeface="Calibri"/>
                <a:ea typeface="Calibri"/>
                <a:cs typeface="Calibri"/>
                <a:sym typeface="Calibri"/>
              </a:rPr>
              <a:t>[ One-sentence takeaway and the recommended action it supports 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48640" y="2926080"/>
            <a:ext cx="10149840" cy="1051560"/>
          </a:xfrm>
          <a:prstGeom prst="roundRect">
            <a:avLst>
              <a:gd fmla="val 5217" name="adj"/>
            </a:avLst>
          </a:prstGeom>
          <a:solidFill>
            <a:srgbClr val="1D2E52"/>
          </a:solidFill>
          <a:ln cap="flat" cmpd="sng" w="12700">
            <a:solidFill>
              <a:srgbClr val="354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822960" y="303580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Key Takeaway 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822960" y="3328416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3E8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CBD3E8"/>
                </a:solidFill>
                <a:latin typeface="Calibri"/>
                <a:ea typeface="Calibri"/>
                <a:cs typeface="Calibri"/>
                <a:sym typeface="Calibri"/>
              </a:rPr>
              <a:t>[ One-sentence takeaway and the recommended action it supports 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548640" y="4160520"/>
            <a:ext cx="10149840" cy="1051560"/>
          </a:xfrm>
          <a:prstGeom prst="roundRect">
            <a:avLst>
              <a:gd fmla="val 5217" name="adj"/>
            </a:avLst>
          </a:prstGeom>
          <a:solidFill>
            <a:srgbClr val="1D2E52"/>
          </a:solidFill>
          <a:ln cap="flat" cmpd="sng" w="12700">
            <a:solidFill>
              <a:srgbClr val="3544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822960" y="42702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Key Takeaway 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822960" y="4562856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3E8"/>
              </a:buClr>
              <a:buSzPts val="1250"/>
              <a:buFont typeface="Calibri"/>
              <a:buNone/>
            </a:pPr>
            <a:r>
              <a:rPr i="1" lang="en-US" sz="1250">
                <a:solidFill>
                  <a:srgbClr val="CBD3E8"/>
                </a:solidFill>
                <a:latin typeface="Calibri"/>
                <a:ea typeface="Calibri"/>
                <a:cs typeface="Calibri"/>
                <a:sym typeface="Calibri"/>
              </a:rPr>
              <a:t>[ One-sentence takeaway and the recommended action it supports ]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7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C97B8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C97B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C97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 &amp; Code Repository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48640" y="1783080"/>
            <a:ext cx="10881360" cy="18288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713232" y="1892808"/>
            <a:ext cx="10552176" cy="1609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List datasets, articles, prior research, or external sources cited, in a consistent format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Code, Reproducibility &amp; Video Explanation Links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548640" y="4114800"/>
            <a:ext cx="10881360" cy="128016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713232" y="4224528"/>
            <a:ext cx="10552176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Link to your repository / notebook, and note any packages, custom metrics or environment details a judge needs to reproduce your results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 &amp; Code Repository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48640" y="1783080"/>
            <a:ext cx="10881360" cy="18288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713232" y="1892808"/>
            <a:ext cx="10552176" cy="1609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List datasets, articles, prior research, or external sources cited, in a consistent format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Code, Reproducibility &amp; Video Explanation Links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548640" y="4114800"/>
            <a:ext cx="10881360" cy="128016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713232" y="4224528"/>
            <a:ext cx="10552176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Link to your repository / notebook, and note any packages, custom metrics or environment details a judge needs to reproduce your results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 &amp; Code Repository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48640" y="1783080"/>
            <a:ext cx="10881360" cy="18288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713232" y="1892808"/>
            <a:ext cx="10552176" cy="1609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List datasets, articles, prior research, or external sources cited, in a consistent format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Code, Reproducibility &amp; Video Explanation Links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548640" y="4114800"/>
            <a:ext cx="10881360" cy="128016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713232" y="4224528"/>
            <a:ext cx="10552176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Link to your repository / notebook, and note any packages, custom metrics or environment details a judge needs to reproduce your results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 &amp; Code Repository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48640" y="1783080"/>
            <a:ext cx="10881360" cy="18288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713232" y="1892808"/>
            <a:ext cx="10552176" cy="1609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List datasets, articles, prior research, or external sources cited, in a consistent format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Code, Reproducibility &amp; Video Explanation Links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548640" y="4114800"/>
            <a:ext cx="10881360" cy="128016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713232" y="4224528"/>
            <a:ext cx="10552176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Link to your repository / notebook, and note any packages, custom metrics or environment details a judge needs to reproduce your results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 &amp; Code Repository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48640" y="1783080"/>
            <a:ext cx="10881360" cy="18288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713232" y="1892808"/>
            <a:ext cx="10552176" cy="1609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List datasets, articles, prior research, or external sources cited, in a consistent format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Code, Reproducibility &amp; Video Explanation Links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548640" y="4114800"/>
            <a:ext cx="10881360" cy="128016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713232" y="4224528"/>
            <a:ext cx="10552176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Link to your repository / notebook, and note any packages, custom metrics or environment details a judge needs to reproduce your results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 &amp; Code Repository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48640" y="1783080"/>
            <a:ext cx="10881360" cy="18288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713232" y="1892808"/>
            <a:ext cx="10552176" cy="1609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List datasets, articles, prior research, or external sources cited, in a consistent format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Code, Reproducibility &amp; Video Explanation Links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548640" y="4114800"/>
            <a:ext cx="10881360" cy="128016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713232" y="4224528"/>
            <a:ext cx="10552176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Link to your repository / notebook, and note any packages, custom metrics or environment details a judge needs to reproduce your results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"/>
          <p:cNvSpPr/>
          <p:nvPr/>
        </p:nvSpPr>
        <p:spPr>
          <a:xfrm>
            <a:off x="548640" y="384048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5302A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C5302A"/>
                </a:solidFill>
                <a:latin typeface="Calibri"/>
                <a:ea typeface="Calibri"/>
                <a:cs typeface="Calibri"/>
                <a:sym typeface="Calibri"/>
              </a:rPr>
              <a:t>APPENDIX — NOT COUNTED IN SLIDE LIMIT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48640" y="658368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2800"/>
              <a:buFont typeface="Bookman Old Style"/>
              <a:buNone/>
            </a:pPr>
            <a:r>
              <a:rPr b="1" lang="en-US" sz="2800">
                <a:solidFill>
                  <a:srgbClr val="172749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 &amp; Code Repository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insma_navy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37392" y="40233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548640" y="1783080"/>
            <a:ext cx="10881360" cy="182880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/>
          <p:nvPr/>
        </p:nvSpPr>
        <p:spPr>
          <a:xfrm>
            <a:off x="713232" y="1892808"/>
            <a:ext cx="10552176" cy="1609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List datasets, articles, prior research, or external sources cited, in a consistent format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548640" y="37947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74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72749"/>
                </a:solidFill>
                <a:latin typeface="Calibri"/>
                <a:ea typeface="Calibri"/>
                <a:cs typeface="Calibri"/>
                <a:sym typeface="Calibri"/>
              </a:rPr>
              <a:t>Code, Reproducibility &amp; Video Explanation Links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548640" y="4114800"/>
            <a:ext cx="10881360" cy="1280160"/>
          </a:xfrm>
          <a:prstGeom prst="rect">
            <a:avLst/>
          </a:prstGeom>
          <a:solidFill>
            <a:srgbClr val="F7F5F2"/>
          </a:solidFill>
          <a:ln cap="flat" cmpd="sng" w="12700">
            <a:solidFill>
              <a:srgbClr val="E4E2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713232" y="4224528"/>
            <a:ext cx="10552176" cy="1060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 Link to your repository / notebook, and note any packages, custom metrics or environment details a judge needs to reproduce your results ]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48640" y="6473952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PREMIER LEAGUE 2026  ·  PRELIMINARY ROUND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10954512" y="6473952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dge_dpl_red.png" id="202" name="Google Shape;2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11712" y="6400800"/>
            <a:ext cx="292608" cy="29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